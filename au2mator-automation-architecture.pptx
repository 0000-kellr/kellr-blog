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pic>
        <p:nvPicPr>
          <p:cNvPr id="3" name="Image 0" descr="C:\Users\Micha\.openclaw\workspace\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"/>
            <a:ext cx="1371600" cy="3017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09760" y="91440"/>
            <a:ext cx="2496312" cy="292608"/>
          </a:xfrm>
          <a:prstGeom prst="roundRect">
            <a:avLst>
              <a:gd name="adj" fmla="val 18750"/>
            </a:avLst>
          </a:prstGeom>
          <a:solidFill>
            <a:srgbClr val="96C15C"/>
          </a:solidFill>
          <a:ln w="12700">
            <a:solidFill>
              <a:srgbClr val="96C1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09760" y="91440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ARCHITECTURE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638251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 einfacher machen - au2mator GmbH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" y="638251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au2mator.com  |  info@au2mator.com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601200" y="6464808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96C15C"/>
          </a:solidFill>
          <a:ln w="12700">
            <a:solidFill>
              <a:srgbClr val="96C1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0" y="646480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au2mator.com  |  info@au2mator.com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09728" y="548640"/>
            <a:ext cx="11969496" cy="932688"/>
          </a:xfrm>
          <a:prstGeom prst="roundRect">
            <a:avLst>
              <a:gd name="adj" fmla="val 7843"/>
            </a:avLst>
          </a:prstGeom>
          <a:solidFill>
            <a:srgbClr val="F2FAE8"/>
          </a:solidFill>
          <a:ln w="12700">
            <a:solidFill>
              <a:srgbClr val="C2DD9A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201168" y="57607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A9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FLOW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01168" y="640080"/>
            <a:ext cx="15727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CF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" y="694944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066B8"/>
          </a:solidFill>
          <a:ln w="12700">
            <a:solidFill>
              <a:srgbClr val="0066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" y="694944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" y="69494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5800" y="868680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IDE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85800" y="1005840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6C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identity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572000" y="640080"/>
            <a:ext cx="17190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CF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694944"/>
            <a:ext cx="329184" cy="3291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065776" y="69494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65776" y="868680"/>
            <a:ext cx="1143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65776" y="1005840"/>
            <a:ext cx="1143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D6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Token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1783080" y="1005840"/>
            <a:ext cx="2788920" cy="0"/>
          </a:xfrm>
          <a:prstGeom prst="line">
            <a:avLst/>
          </a:prstGeom>
          <a:noFill/>
          <a:ln w="19050">
            <a:solidFill>
              <a:srgbClr val="96C15C"/>
            </a:solidFill>
            <a:prstDash val="solid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2423160" y="923544"/>
            <a:ext cx="1417320" cy="182880"/>
          </a:xfrm>
          <a:prstGeom prst="roundRect">
            <a:avLst>
              <a:gd name="adj" fmla="val 30000"/>
            </a:avLst>
          </a:prstGeom>
          <a:solidFill>
            <a:srgbClr val="F2FAE8"/>
          </a:solidFill>
          <a:ln w="12700">
            <a:solidFill>
              <a:srgbClr val="C2DD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23160" y="92354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identity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291072" y="1005840"/>
            <a:ext cx="2212848" cy="0"/>
          </a:xfrm>
          <a:prstGeom prst="line">
            <a:avLst/>
          </a:prstGeom>
          <a:noFill/>
          <a:ln w="19050">
            <a:solidFill>
              <a:srgbClr val="4A8EDD"/>
            </a:solidFill>
            <a:prstDash val="dash"/>
            <a:tailEnd type="arrow"/>
          </a:ln>
        </p:spPr>
      </p:sp>
      <p:sp>
        <p:nvSpPr>
          <p:cNvPr id="29" name="Shape 26"/>
          <p:cNvSpPr/>
          <p:nvPr/>
        </p:nvSpPr>
        <p:spPr>
          <a:xfrm>
            <a:off x="6675120" y="923544"/>
            <a:ext cx="1097280" cy="182880"/>
          </a:xfrm>
          <a:prstGeom prst="roundRect">
            <a:avLst>
              <a:gd name="adj" fmla="val 30000"/>
            </a:avLst>
          </a:prstGeom>
          <a:solidFill>
            <a:srgbClr val="EDF4FF"/>
          </a:solidFill>
          <a:ln w="12700">
            <a:solidFill>
              <a:srgbClr val="A8C4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9235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6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Token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109728" y="1554480"/>
            <a:ext cx="2852928" cy="4572000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 w="19050">
            <a:solidFill>
              <a:srgbClr val="C5CF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" y="1627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28600" y="1792224"/>
            <a:ext cx="254203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96C1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28600" y="1792224"/>
            <a:ext cx="45720" cy="932688"/>
          </a:xfrm>
          <a:prstGeom prst="rect">
            <a:avLst/>
          </a:prstGeom>
          <a:solidFill>
            <a:srgbClr val="96C15C"/>
          </a:solidFill>
          <a:ln w="12700">
            <a:solidFill>
              <a:srgbClr val="96C1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38328" y="18836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2FAE8"/>
          </a:solidFill>
          <a:ln w="12700">
            <a:solidFill>
              <a:srgbClr val="C2DD9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8328" y="188366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40664" y="1883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Automator Server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40664" y="206654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Windows Server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92608" y="2304288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E4F0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2313432"/>
            <a:ext cx="2267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Arc-enabled Server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65760" y="2478024"/>
            <a:ext cx="22677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Agent  |  Hybrid Worker Extension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228600" y="3950208"/>
            <a:ext cx="254203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CFE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01752" y="40416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0F4FF"/>
          </a:solidFill>
          <a:ln w="12700">
            <a:solidFill>
              <a:srgbClr val="B8C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01752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13232" y="40599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/ Entra ID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13232" y="42245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oder Entra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713232" y="43708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D6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 &amp; Identitaeten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1508760" y="2724912"/>
            <a:ext cx="0" cy="1225296"/>
          </a:xfrm>
          <a:prstGeom prst="line">
            <a:avLst/>
          </a:prstGeom>
          <a:noFill/>
          <a:ln w="19050">
            <a:solidFill>
              <a:srgbClr val="8A9AB0"/>
            </a:solidFill>
            <a:prstDash val="solid"/>
            <a:headEnd type="arrow"/>
            <a:tailEnd type="arrow"/>
          </a:ln>
        </p:spPr>
      </p:sp>
      <p:sp>
        <p:nvSpPr>
          <p:cNvPr id="49" name="Shape 46"/>
          <p:cNvSpPr/>
          <p:nvPr/>
        </p:nvSpPr>
        <p:spPr>
          <a:xfrm>
            <a:off x="950976" y="3255264"/>
            <a:ext cx="1115568" cy="182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5CFE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50976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Directory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2971800" y="1554480"/>
            <a:ext cx="0" cy="4572000"/>
          </a:xfrm>
          <a:prstGeom prst="line">
            <a:avLst/>
          </a:prstGeom>
          <a:noFill/>
          <a:ln w="25400">
            <a:solidFill>
              <a:srgbClr val="E05252"/>
            </a:solidFill>
            <a:prstDash val="dash"/>
          </a:ln>
        </p:spPr>
      </p:sp>
      <p:sp>
        <p:nvSpPr>
          <p:cNvPr id="52" name="Shape 49"/>
          <p:cNvSpPr/>
          <p:nvPr/>
        </p:nvSpPr>
        <p:spPr>
          <a:xfrm>
            <a:off x="2596896" y="2889504"/>
            <a:ext cx="694944" cy="329184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596896" y="2889504"/>
            <a:ext cx="694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414016" y="3310128"/>
            <a:ext cx="1243584" cy="182880"/>
          </a:xfrm>
          <a:prstGeom prst="roundRect">
            <a:avLst>
              <a:gd name="adj" fmla="val 30000"/>
            </a:avLst>
          </a:prstGeom>
          <a:solidFill>
            <a:srgbClr val="FFF0F0"/>
          </a:solidFill>
          <a:ln w="12700">
            <a:solidFill>
              <a:srgbClr val="F0B0B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414016" y="3310128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 outbound</a:t>
            </a:r>
            <a:endParaRPr lang="en-US" sz="700" dirty="0"/>
          </a:p>
        </p:txBody>
      </p:sp>
      <p:sp>
        <p:nvSpPr>
          <p:cNvPr id="56" name="Shape 53"/>
          <p:cNvSpPr/>
          <p:nvPr/>
        </p:nvSpPr>
        <p:spPr>
          <a:xfrm>
            <a:off x="2414016" y="3493008"/>
            <a:ext cx="1243584" cy="182880"/>
          </a:xfrm>
          <a:prstGeom prst="roundRect">
            <a:avLst>
              <a:gd name="adj" fmla="val 30000"/>
            </a:avLst>
          </a:prstGeom>
          <a:solidFill>
            <a:srgbClr val="FFF0F0"/>
          </a:solidFill>
          <a:ln w="12700">
            <a:solidFill>
              <a:srgbClr val="F0B0B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414016" y="3493008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Inbound!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3154680" y="1463040"/>
            <a:ext cx="8897112" cy="4663440"/>
          </a:xfrm>
          <a:prstGeom prst="roundRect">
            <a:avLst>
              <a:gd name="adj" fmla="val 1569"/>
            </a:avLst>
          </a:prstGeom>
          <a:solidFill>
            <a:srgbClr val="EDF4FF"/>
          </a:solidFill>
          <a:ln w="19050">
            <a:solidFill>
              <a:srgbClr val="A8C4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943600" y="15361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6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3273552" y="2798064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E4F0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273552" y="2798064"/>
            <a:ext cx="45720" cy="7315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383280" y="287121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8E0FF"/>
          </a:solidFill>
          <a:ln w="12700">
            <a:solidFill>
              <a:srgbClr val="80B8F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383280" y="2871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3785616" y="28895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3785616" y="305409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07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Management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3310128" y="320954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Registrierung  |  Identitaet  |  Extensions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2770632" y="2377440"/>
            <a:ext cx="521208" cy="54864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arrow"/>
          </a:ln>
        </p:spPr>
      </p:sp>
      <p:sp>
        <p:nvSpPr>
          <p:cNvPr id="68" name="Shape 65"/>
          <p:cNvSpPr/>
          <p:nvPr/>
        </p:nvSpPr>
        <p:spPr>
          <a:xfrm>
            <a:off x="2624328" y="2066544"/>
            <a:ext cx="1417320" cy="201168"/>
          </a:xfrm>
          <a:prstGeom prst="roundRect">
            <a:avLst>
              <a:gd name="adj" fmla="val 27273"/>
            </a:avLst>
          </a:prstGeom>
          <a:solidFill>
            <a:srgbClr val="E4F0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624328" y="206654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443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6400800" y="1792224"/>
            <a:ext cx="30175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A8C4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400800" y="1792224"/>
            <a:ext cx="45720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492240" y="188366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2700">
            <a:solidFill>
              <a:srgbClr val="A8C4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492240" y="1883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6894576" y="190195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Account</a:t>
            </a:r>
            <a:endParaRPr lang="en-US" sz="1050" dirty="0"/>
          </a:p>
        </p:txBody>
      </p:sp>
      <p:sp>
        <p:nvSpPr>
          <p:cNvPr id="75" name="Text 72"/>
          <p:cNvSpPr/>
          <p:nvPr/>
        </p:nvSpPr>
        <p:spPr>
          <a:xfrm>
            <a:off x="6894576" y="207568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Automation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6455664" y="228600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6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Store  |  Job Queue  |  Scheduling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2770632" y="2066544"/>
            <a:ext cx="3630168" cy="128016"/>
          </a:xfrm>
          <a:prstGeom prst="line">
            <a:avLst/>
          </a:prstGeom>
          <a:noFill/>
          <a:ln w="25400">
            <a:solidFill>
              <a:srgbClr val="96C15C"/>
            </a:solidFill>
            <a:prstDash val="solid"/>
            <a:tailEnd type="arrow"/>
          </a:ln>
        </p:spPr>
      </p:sp>
      <p:sp>
        <p:nvSpPr>
          <p:cNvPr id="78" name="Shape 75"/>
          <p:cNvSpPr/>
          <p:nvPr/>
        </p:nvSpPr>
        <p:spPr>
          <a:xfrm>
            <a:off x="3547872" y="1947672"/>
            <a:ext cx="1865376" cy="219456"/>
          </a:xfrm>
          <a:prstGeom prst="roundRect">
            <a:avLst>
              <a:gd name="adj" fmla="val 25000"/>
            </a:avLst>
          </a:prstGeom>
          <a:solidFill>
            <a:srgbClr val="F2FAE8"/>
          </a:solidFill>
          <a:ln w="12700">
            <a:solidFill>
              <a:srgbClr val="C2DD9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3547872" y="1947672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 (Entra)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3474720" y="3584448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CFE0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566160" y="36576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2700">
            <a:solidFill>
              <a:srgbClr val="B0D0F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356616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3968496" y="367588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Runbooks</a:t>
            </a:r>
            <a:endParaRPr lang="en-US" sz="950" dirty="0"/>
          </a:p>
        </p:txBody>
      </p:sp>
      <p:sp>
        <p:nvSpPr>
          <p:cNvPr id="84" name="Text 81"/>
          <p:cNvSpPr/>
          <p:nvPr/>
        </p:nvSpPr>
        <p:spPr>
          <a:xfrm>
            <a:off x="3968496" y="384048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Automation Cloud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3968496" y="400507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Sandbox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6675120" y="2596896"/>
            <a:ext cx="-1993392" cy="987552"/>
          </a:xfrm>
          <a:prstGeom prst="line">
            <a:avLst/>
          </a:prstGeom>
          <a:noFill/>
          <a:ln w="19050">
            <a:solidFill>
              <a:srgbClr val="8A9AB0"/>
            </a:solidFill>
            <a:prstDash val="solid"/>
            <a:tailEnd type="arrow"/>
          </a:ln>
        </p:spPr>
      </p:sp>
      <p:sp>
        <p:nvSpPr>
          <p:cNvPr id="87" name="Shape 84"/>
          <p:cNvSpPr/>
          <p:nvPr/>
        </p:nvSpPr>
        <p:spPr>
          <a:xfrm>
            <a:off x="4910328" y="2898648"/>
            <a:ext cx="676656" cy="182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5CFE0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910328" y="289864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700" dirty="0"/>
          </a:p>
        </p:txBody>
      </p:sp>
      <p:sp>
        <p:nvSpPr>
          <p:cNvPr id="89" name="Shape 86"/>
          <p:cNvSpPr/>
          <p:nvPr/>
        </p:nvSpPr>
        <p:spPr>
          <a:xfrm>
            <a:off x="6400800" y="3584448"/>
            <a:ext cx="32004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25400">
            <a:solidFill>
              <a:srgbClr val="96C15C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400800" y="3584448"/>
            <a:ext cx="45720" cy="1115568"/>
          </a:xfrm>
          <a:prstGeom prst="rect">
            <a:avLst/>
          </a:prstGeom>
          <a:solidFill>
            <a:srgbClr val="96C15C"/>
          </a:solidFill>
          <a:ln w="12700">
            <a:solidFill>
              <a:srgbClr val="96C15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6492240" y="36576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2FAE8"/>
          </a:solidFill>
          <a:ln w="12700">
            <a:solidFill>
              <a:srgbClr val="C2DD9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49224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6894576" y="3675888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Runbook Worker</a:t>
            </a:r>
            <a:endParaRPr lang="en-US" sz="950" dirty="0"/>
          </a:p>
        </p:txBody>
      </p:sp>
      <p:sp>
        <p:nvSpPr>
          <p:cNvPr id="94" name="Text 91"/>
          <p:cNvSpPr/>
          <p:nvPr/>
        </p:nvSpPr>
        <p:spPr>
          <a:xfrm>
            <a:off x="6894576" y="3849624"/>
            <a:ext cx="2578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Execution  =  Automator Server</a:t>
            </a:r>
            <a:endParaRPr lang="en-US" sz="750" dirty="0"/>
          </a:p>
        </p:txBody>
      </p:sp>
      <p:sp>
        <p:nvSpPr>
          <p:cNvPr id="95" name="Shape 92"/>
          <p:cNvSpPr/>
          <p:nvPr/>
        </p:nvSpPr>
        <p:spPr>
          <a:xfrm>
            <a:off x="6464808" y="4160520"/>
            <a:ext cx="3044952" cy="457200"/>
          </a:xfrm>
          <a:prstGeom prst="roundRect">
            <a:avLst>
              <a:gd name="adj" fmla="val 12000"/>
            </a:avLst>
          </a:prstGeom>
          <a:solidFill>
            <a:srgbClr val="F2FAE8"/>
          </a:solidFill>
          <a:ln w="12700">
            <a:solidFill>
              <a:srgbClr val="96C15C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483096" y="4169664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PULL: Hybrid Worker holt Jobs aktiv ab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6483096" y="4361688"/>
            <a:ext cx="3008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443  |  kein Inbound  |  Firewall-freundlich</a:t>
            </a:r>
            <a:endParaRPr lang="en-US" sz="700" dirty="0"/>
          </a:p>
        </p:txBody>
      </p:sp>
      <p:sp>
        <p:nvSpPr>
          <p:cNvPr id="98" name="Shape 95"/>
          <p:cNvSpPr/>
          <p:nvPr/>
        </p:nvSpPr>
        <p:spPr>
          <a:xfrm>
            <a:off x="8001000" y="3584448"/>
            <a:ext cx="0" cy="-987552"/>
          </a:xfrm>
          <a:prstGeom prst="line">
            <a:avLst/>
          </a:prstGeom>
          <a:noFill/>
          <a:ln w="31750">
            <a:solidFill>
              <a:srgbClr val="96C15C"/>
            </a:solidFill>
            <a:prstDash val="solid"/>
            <a:tailEnd type="arrow"/>
          </a:ln>
        </p:spPr>
      </p:sp>
      <p:sp>
        <p:nvSpPr>
          <p:cNvPr id="99" name="Shape 96"/>
          <p:cNvSpPr/>
          <p:nvPr/>
        </p:nvSpPr>
        <p:spPr>
          <a:xfrm>
            <a:off x="8055864" y="2944368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2FAE8"/>
          </a:solidFill>
          <a:ln w="12700">
            <a:solidFill>
              <a:srgbClr val="C2DD9A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8055864" y="29443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8055864" y="31089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9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abfragen</a:t>
            </a:r>
            <a:endParaRPr lang="en-US" sz="700" dirty="0"/>
          </a:p>
        </p:txBody>
      </p:sp>
      <p:sp>
        <p:nvSpPr>
          <p:cNvPr id="102" name="Shape 99"/>
          <p:cNvSpPr/>
          <p:nvPr/>
        </p:nvSpPr>
        <p:spPr>
          <a:xfrm>
            <a:off x="5760720" y="3154680"/>
            <a:ext cx="640080" cy="484632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  <a:tailEnd type="arrow"/>
          </a:ln>
        </p:spPr>
      </p:sp>
      <p:sp>
        <p:nvSpPr>
          <p:cNvPr id="103" name="Shape 100"/>
          <p:cNvSpPr/>
          <p:nvPr/>
        </p:nvSpPr>
        <p:spPr>
          <a:xfrm>
            <a:off x="5376672" y="3264408"/>
            <a:ext cx="1234440" cy="182880"/>
          </a:xfrm>
          <a:prstGeom prst="roundRect">
            <a:avLst>
              <a:gd name="adj" fmla="val 30000"/>
            </a:avLst>
          </a:prstGeom>
          <a:solidFill>
            <a:srgbClr val="E4F0FF"/>
          </a:solidFill>
          <a:ln w="12700">
            <a:solidFill>
              <a:srgbClr val="9ACAFF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5376672" y="326440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Deploy</a:t>
            </a:r>
            <a:endParaRPr lang="en-US" sz="700" dirty="0"/>
          </a:p>
        </p:txBody>
      </p:sp>
      <p:sp>
        <p:nvSpPr>
          <p:cNvPr id="105" name="Shape 102"/>
          <p:cNvSpPr/>
          <p:nvPr/>
        </p:nvSpPr>
        <p:spPr>
          <a:xfrm>
            <a:off x="8778240" y="2596896"/>
            <a:ext cx="0" cy="987552"/>
          </a:xfrm>
          <a:prstGeom prst="line">
            <a:avLst/>
          </a:prstGeom>
          <a:noFill/>
          <a:ln w="19050">
            <a:solidFill>
              <a:srgbClr val="96C15C"/>
            </a:solidFill>
            <a:prstDash val="solid"/>
            <a:tailEnd type="arrow"/>
          </a:ln>
        </p:spPr>
      </p:sp>
      <p:sp>
        <p:nvSpPr>
          <p:cNvPr id="106" name="Shape 103"/>
          <p:cNvSpPr/>
          <p:nvPr/>
        </p:nvSpPr>
        <p:spPr>
          <a:xfrm>
            <a:off x="3383280" y="4846320"/>
            <a:ext cx="6172200" cy="310896"/>
          </a:xfrm>
          <a:prstGeom prst="roundRect">
            <a:avLst>
              <a:gd name="adj" fmla="val 50000"/>
            </a:avLst>
          </a:prstGeom>
          <a:solidFill>
            <a:srgbClr val="F5F0FF"/>
          </a:solidFill>
          <a:ln w="19050">
            <a:solidFill>
              <a:srgbClr val="C8B8F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3383280" y="48463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4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- berechtigungsbasierter Zugriff auf Azure Ressourcen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4526280" y="4315968"/>
            <a:ext cx="137160" cy="530352"/>
          </a:xfrm>
          <a:prstGeom prst="line">
            <a:avLst/>
          </a:prstGeom>
          <a:noFill/>
          <a:ln w="19050">
            <a:solidFill>
              <a:srgbClr val="8A9AB0"/>
            </a:solidFill>
            <a:prstDash val="solid"/>
            <a:tailEnd type="arrow"/>
          </a:ln>
        </p:spPr>
      </p:sp>
      <p:sp>
        <p:nvSpPr>
          <p:cNvPr id="109" name="Shape 106"/>
          <p:cNvSpPr/>
          <p:nvPr/>
        </p:nvSpPr>
        <p:spPr>
          <a:xfrm>
            <a:off x="8001000" y="4700016"/>
            <a:ext cx="0" cy="146304"/>
          </a:xfrm>
          <a:prstGeom prst="line">
            <a:avLst/>
          </a:prstGeom>
          <a:noFill/>
          <a:ln w="19050">
            <a:solidFill>
              <a:srgbClr val="96C15C"/>
            </a:solidFill>
            <a:prstDash val="solid"/>
            <a:tailEnd type="arrow"/>
          </a:ln>
        </p:spPr>
      </p:sp>
      <p:sp>
        <p:nvSpPr>
          <p:cNvPr id="110" name="Shape 107"/>
          <p:cNvSpPr/>
          <p:nvPr/>
        </p:nvSpPr>
        <p:spPr>
          <a:xfrm>
            <a:off x="5760720" y="5321808"/>
            <a:ext cx="23317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8B8F0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760720" y="5321808"/>
            <a:ext cx="45720" cy="676656"/>
          </a:xfrm>
          <a:prstGeom prst="rect">
            <a:avLst/>
          </a:prstGeom>
          <a:solidFill>
            <a:srgbClr val="6040B0"/>
          </a:solidFill>
          <a:ln w="12700">
            <a:solidFill>
              <a:srgbClr val="6040B0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5870448" y="54132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5F0FF"/>
          </a:solidFill>
          <a:ln w="12700">
            <a:solidFill>
              <a:srgbClr val="C8B8F0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5870448" y="5413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4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6281928" y="543153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000" dirty="0"/>
          </a:p>
        </p:txBody>
      </p:sp>
      <p:sp>
        <p:nvSpPr>
          <p:cNvPr id="115" name="Text 112"/>
          <p:cNvSpPr/>
          <p:nvPr/>
        </p:nvSpPr>
        <p:spPr>
          <a:xfrm>
            <a:off x="6281928" y="5596128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&amp; Secrets</a:t>
            </a:r>
            <a:endParaRPr lang="en-US" sz="750" dirty="0"/>
          </a:p>
        </p:txBody>
      </p:sp>
      <p:sp>
        <p:nvSpPr>
          <p:cNvPr id="116" name="Shape 113"/>
          <p:cNvSpPr/>
          <p:nvPr/>
        </p:nvSpPr>
        <p:spPr>
          <a:xfrm>
            <a:off x="6922008" y="5157216"/>
            <a:ext cx="0" cy="164592"/>
          </a:xfrm>
          <a:prstGeom prst="line">
            <a:avLst/>
          </a:prstGeom>
          <a:noFill/>
          <a:ln w="22860">
            <a:solidFill>
              <a:srgbClr val="6040B0"/>
            </a:solidFill>
            <a:prstDash val="solid"/>
            <a:tailEnd type="arrow"/>
          </a:ln>
        </p:spPr>
      </p:sp>
      <p:sp>
        <p:nvSpPr>
          <p:cNvPr id="117" name="Shape 114"/>
          <p:cNvSpPr/>
          <p:nvPr/>
        </p:nvSpPr>
        <p:spPr>
          <a:xfrm>
            <a:off x="137160" y="4919472"/>
            <a:ext cx="27432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5CFE0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256032" y="49743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LEGENDE</a:t>
            </a:r>
            <a:endParaRPr lang="en-US" sz="700" dirty="0"/>
          </a:p>
        </p:txBody>
      </p:sp>
      <p:sp>
        <p:nvSpPr>
          <p:cNvPr id="119" name="Shape 116"/>
          <p:cNvSpPr/>
          <p:nvPr/>
        </p:nvSpPr>
        <p:spPr>
          <a:xfrm>
            <a:off x="256032" y="5239512"/>
            <a:ext cx="411480" cy="0"/>
          </a:xfrm>
          <a:prstGeom prst="line">
            <a:avLst/>
          </a:prstGeom>
          <a:noFill/>
          <a:ln w="25400">
            <a:solidFill>
              <a:srgbClr val="96C15C"/>
            </a:solidFill>
            <a:prstDash val="solid"/>
            <a:tailEnd type="arrow"/>
          </a:ln>
        </p:spPr>
      </p:sp>
      <p:sp>
        <p:nvSpPr>
          <p:cNvPr id="120" name="Text 117"/>
          <p:cNvSpPr/>
          <p:nvPr/>
        </p:nvSpPr>
        <p:spPr>
          <a:xfrm>
            <a:off x="749808" y="51572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Automatisierungs-Flow / App Registration</a:t>
            </a:r>
            <a:endParaRPr lang="en-US" sz="800" dirty="0"/>
          </a:p>
        </p:txBody>
      </p:sp>
      <p:sp>
        <p:nvSpPr>
          <p:cNvPr id="121" name="Shape 118"/>
          <p:cNvSpPr/>
          <p:nvPr/>
        </p:nvSpPr>
        <p:spPr>
          <a:xfrm>
            <a:off x="256032" y="5431536"/>
            <a:ext cx="411480" cy="0"/>
          </a:xfrm>
          <a:prstGeom prst="line">
            <a:avLst/>
          </a:prstGeom>
          <a:noFill/>
          <a:ln w="31750">
            <a:solidFill>
              <a:srgbClr val="96C15C"/>
            </a:solidFill>
            <a:prstDash val="solid"/>
            <a:tailEnd type="arrow"/>
          </a:ln>
        </p:spPr>
      </p:sp>
      <p:sp>
        <p:nvSpPr>
          <p:cNvPr id="122" name="Text 119"/>
          <p:cNvSpPr/>
          <p:nvPr/>
        </p:nvSpPr>
        <p:spPr>
          <a:xfrm>
            <a:off x="749808" y="5349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- Hybrid Worker (outbound)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256032" y="5623560"/>
            <a:ext cx="411480" cy="0"/>
          </a:xfrm>
          <a:prstGeom prst="line">
            <a:avLst/>
          </a:prstGeom>
          <a:noFill/>
          <a:ln w="19050">
            <a:solidFill>
              <a:srgbClr val="4A8EDD"/>
            </a:solidFill>
            <a:prstDash val="dash"/>
            <a:tailEnd type="arrow"/>
          </a:ln>
        </p:spPr>
      </p:sp>
      <p:sp>
        <p:nvSpPr>
          <p:cNvPr id="124" name="Text 121"/>
          <p:cNvSpPr/>
          <p:nvPr/>
        </p:nvSpPr>
        <p:spPr>
          <a:xfrm>
            <a:off x="749808" y="5541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Deployment (PAT)</a:t>
            </a:r>
            <a:endParaRPr lang="en-US" sz="800" dirty="0"/>
          </a:p>
        </p:txBody>
      </p:sp>
      <p:sp>
        <p:nvSpPr>
          <p:cNvPr id="125" name="Shape 122"/>
          <p:cNvSpPr/>
          <p:nvPr/>
        </p:nvSpPr>
        <p:spPr>
          <a:xfrm>
            <a:off x="256032" y="5815584"/>
            <a:ext cx="4114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  <a:tailEnd type="arrow"/>
          </a:ln>
        </p:spPr>
      </p:sp>
      <p:sp>
        <p:nvSpPr>
          <p:cNvPr id="126" name="Text 123"/>
          <p:cNvSpPr/>
          <p:nvPr/>
        </p:nvSpPr>
        <p:spPr>
          <a:xfrm>
            <a:off x="749808" y="57332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(Registrierung / Extension)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9646920" y="5285232"/>
            <a:ext cx="2404872" cy="731520"/>
          </a:xfrm>
          <a:prstGeom prst="roundRect">
            <a:avLst>
              <a:gd name="adj" fmla="val 7500"/>
            </a:avLst>
          </a:prstGeom>
          <a:solidFill>
            <a:srgbClr val="FFF8F0"/>
          </a:solidFill>
          <a:ln w="19050">
            <a:solidFill>
              <a:srgbClr val="E09040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9692640" y="5330952"/>
            <a:ext cx="2313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Security-Vorteil</a:t>
            </a:r>
            <a:endParaRPr lang="en-US" sz="900" dirty="0"/>
          </a:p>
        </p:txBody>
      </p:sp>
      <p:sp>
        <p:nvSpPr>
          <p:cNvPr id="129" name="Text 126"/>
          <p:cNvSpPr/>
          <p:nvPr/>
        </p:nvSpPr>
        <p:spPr>
          <a:xfrm>
            <a:off x="9692640" y="5495544"/>
            <a:ext cx="2313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Worker initiiert alle Verbindungen.</a:t>
            </a:r>
            <a:endParaRPr lang="en-US" sz="750" dirty="0"/>
          </a:p>
        </p:txBody>
      </p:sp>
      <p:sp>
        <p:nvSpPr>
          <p:cNvPr id="130" name="Text 127"/>
          <p:cNvSpPr/>
          <p:nvPr/>
        </p:nvSpPr>
        <p:spPr>
          <a:xfrm>
            <a:off x="9692640" y="5641848"/>
            <a:ext cx="2313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Inbound! Port 443 outbound only.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92640" y="5788152"/>
            <a:ext cx="2313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Firewall-freundlich.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au2mator - Ideal Automation Architecture</dc:title>
  <dc:subject>PptxGenJS Presentation</dc:subject>
  <dc:creator>au2mator</dc:creator>
  <cp:lastModifiedBy>au2mator</cp:lastModifiedBy>
  <cp:revision>1</cp:revision>
  <dcterms:created xsi:type="dcterms:W3CDTF">2026-03-12T10:24:00Z</dcterms:created>
  <dcterms:modified xsi:type="dcterms:W3CDTF">2026-03-12T10:24:00Z</dcterms:modified>
</cp:coreProperties>
</file>